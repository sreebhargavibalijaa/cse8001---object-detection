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73" r:id="rId4"/>
    <p:sldId id="274" r:id="rId5"/>
    <p:sldId id="287" r:id="rId6"/>
    <p:sldId id="282" r:id="rId7"/>
    <p:sldId id="278" r:id="rId8"/>
    <p:sldId id="262" r:id="rId9"/>
    <p:sldId id="275" r:id="rId10"/>
    <p:sldId id="268" r:id="rId11"/>
    <p:sldId id="269" r:id="rId12"/>
    <p:sldId id="284" r:id="rId13"/>
    <p:sldId id="272" r:id="rId14"/>
    <p:sldId id="271" r:id="rId15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03F5D-714D-D339-364D-8080658F68B5}" v="2" dt="2026-10-12T21:30:57.867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83" autoAdjust="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23d8f42106466e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23d8f42106466e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2641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23d8f42106466e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423d8f42106466e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23d8f42106466e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423d8f42106466e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23d8f42106466e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23d8f42106466e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23d8f42106466e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23d8f42106466e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568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23d8f42106466e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423d8f42106466e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423d8f42106466e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423d8f42106466e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70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274320"/>
            <a:ext cx="831875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5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50"/>
          </a:p>
        </p:txBody>
      </p:sp>
    </p:spTree>
    <p:extLst>
      <p:ext uri="{BB962C8B-B14F-4D97-AF65-F5344CB8AC3E}">
        <p14:creationId xmlns:p14="http://schemas.microsoft.com/office/powerpoint/2010/main" val="127336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1997780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/>
              <a:t>Object Detection and Tracking</a:t>
            </a:r>
            <a:endParaRPr lang="en-US" sz="28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294967295"/>
          </p:nvPr>
        </p:nvSpPr>
        <p:spPr>
          <a:xfrm>
            <a:off x="311708" y="2566115"/>
            <a:ext cx="8520600" cy="527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dirty="0"/>
              <a:t>Preya Patel, Sree Bhargavi Balija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4232B"/>
                </a:solidFill>
                <a:latin typeface="Calibri"/>
              </a:rPr>
              <a:t>Problem statement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2640"/>
            <a:ext cx="82169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In automated surveillance, autonomous navigation, and intelligent traffic management, computer vision systems must detect pedestrians and persistently preserve the trajectories across continuous video feeds.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77639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77639" cy="64008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508760"/>
            <a:ext cx="36484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32B"/>
                </a:solidFill>
                <a:latin typeface="Calibri"/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47088"/>
            <a:ext cx="3648456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dirty="0">
                <a:solidFill>
                  <a:srgbClr val="14232B"/>
                </a:solidFill>
                <a:latin typeface="Calibri"/>
              </a:rPr>
              <a:t>Detect pedestrians in MOT17 frames, pass the exact detector outputs into a tracker, and compare complete detector + tracker configurations under the same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371600"/>
            <a:ext cx="3977639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1371600"/>
            <a:ext cx="3977639" cy="64008"/>
          </a:xfrm>
          <a:prstGeom prst="rect">
            <a:avLst/>
          </a:prstGeom>
          <a:solidFill>
            <a:srgbClr val="B97A00"/>
          </a:solidFill>
          <a:ln>
            <a:solidFill>
              <a:srgbClr val="B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73752" y="1508760"/>
            <a:ext cx="36484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32B"/>
                </a:solidFill>
                <a:latin typeface="Calibri"/>
              </a:rPr>
              <a:t>Experiment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847088"/>
            <a:ext cx="3648456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14232B"/>
                </a:solidFill>
                <a:latin typeface="Calibri"/>
              </a:rPr>
              <a:t>3 detectors × 2 trackers = 6 pipeline configurations. Final evaluation uses two complete MOT17 training videos (02 and 09): 1,125 source frames in total.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27248"/>
            <a:ext cx="3977639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127248"/>
            <a:ext cx="3977639" cy="64008"/>
          </a:xfrm>
          <a:prstGeom prst="rect">
            <a:avLst/>
          </a:prstGeom>
          <a:solidFill>
            <a:srgbClr val="B97A00"/>
          </a:solidFill>
          <a:ln>
            <a:solidFill>
              <a:srgbClr val="B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264408"/>
            <a:ext cx="36484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32B"/>
                </a:solidFill>
                <a:latin typeface="Calibri"/>
              </a:rPr>
              <a:t>Why two complete sequences?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02736"/>
            <a:ext cx="36484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4232B"/>
                </a:solidFill>
                <a:latin typeface="Calibri"/>
              </a:rPr>
              <a:t>MOT17-02 is dense (31.0 pedestrians/frame); MOT17-09 is lower density (10.1/frame). This provides a controlled comparison under different scene distributions.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127248"/>
            <a:ext cx="3977639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3127248"/>
            <a:ext cx="3977639" cy="64008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3264408"/>
            <a:ext cx="36484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32B"/>
                </a:solidFill>
                <a:latin typeface="Calibri"/>
              </a:rPr>
              <a:t>What is measured?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3602736"/>
            <a:ext cx="36484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4232B"/>
                </a:solidFill>
                <a:latin typeface="Calibri"/>
              </a:rPr>
              <a:t>Official TrackEval tracking metrics, motion-continuity assertion results, controlled CPU latency/FPS, and saved visual tracking outputs.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C8439D-BAE5-A12F-63BD-AAF6B967B5E2}"/>
              </a:ext>
            </a:extLst>
          </p:cNvPr>
          <p:cNvSpPr txBox="1"/>
          <p:nvPr/>
        </p:nvSpPr>
        <p:spPr>
          <a:xfrm>
            <a:off x="557784" y="4654296"/>
            <a:ext cx="8302752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5A6B74"/>
                </a:solidFill>
                <a:latin typeface="Calibri"/>
                <a:ea typeface="Calibri"/>
                <a:cs typeface="Calibri"/>
              </a:rPr>
              <a:t>Milestone 1 focus: built end-to-end pipeline, compare quality and latency, and implement a tracking assertion.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MOT17: annotations and detections</a:t>
            </a:r>
            <a:endParaRPr lang="en-US" sz="260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5A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 sequences have ground truth, so supervised steps apply to train alone.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270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(02, 04, 05, 09, 10, 11, 13)</a:t>
            </a:r>
            <a:endParaRPr lang="en-US" sz="1500"/>
          </a:p>
        </p:txBody>
      </p:sp>
      <p:sp>
        <p:nvSpPr>
          <p:cNvPr id="7" name="Text 5"/>
          <p:cNvSpPr txBox="1"/>
          <p:nvPr/>
        </p:nvSpPr>
        <p:spPr>
          <a:xfrm>
            <a:off x="640080" y="190195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seqinfo.ini for frame rate, width and height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ground-truth rows with class_id = 1 and consider = 1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or ignore boxes with visibility below 0.2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gt.txt identity IDs to crop patches for Re-ID training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64008"/>
          </a:xfrm>
          <a:prstGeom prst="rect">
            <a:avLst/>
          </a:prstGeom>
          <a:solidFill>
            <a:srgbClr val="B97A00"/>
          </a:solidFill>
          <a:ln w="12700">
            <a:solidFill>
              <a:srgbClr val="B97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15270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(01, 03, 06, 07, 08, 12, 14)</a:t>
            </a:r>
            <a:endParaRPr lang="en-US" sz="1500"/>
          </a:p>
        </p:txBody>
      </p:sp>
      <p:sp>
        <p:nvSpPr>
          <p:cNvPr id="11" name="Text 9"/>
          <p:cNvSpPr txBox="1"/>
          <p:nvPr/>
        </p:nvSpPr>
        <p:spPr>
          <a:xfrm>
            <a:off x="4892040" y="190195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gt/gt.txt, to prevent leakage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det/det.txt as proposals for tracking-by-detection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new sequential track IDs per sequence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results to the MOT benchmark server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457200" y="3456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on det.txt (train and test)</a:t>
            </a:r>
            <a:endParaRPr lang="en-US" sz="13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3767328"/>
          <a:ext cx="8229600" cy="1097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A6B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A6B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threshold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boxes with conf above a chosen threshold (DPM scores can be negative)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Clamp to image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 = max(0, left), y1 = max(0, top), x2 = min(W, x1 + w), y2 = min(H, y1 + h)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duplicate overlapping proposals within each frame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660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frames and labels for each model</a:t>
            </a:r>
            <a:endParaRPr lang="en-US" sz="260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5A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frames with OpenCV (BGR), apply the model’s input format, and convert boxes from MOT’s [left, top, w, h].</a:t>
            </a:r>
            <a:endParaRPr lang="en-US" sz="125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59147"/>
              </p:ext>
            </p:extLst>
          </p:nvPr>
        </p:nvGraphicFramePr>
        <p:xfrm>
          <a:off x="457200" y="1371600"/>
          <a:ext cx="8229596" cy="2121408"/>
        </p:xfrm>
        <a:graphic>
          <a:graphicData uri="http://schemas.openxmlformats.org/drawingml/2006/table">
            <a:tbl>
              <a:tblPr/>
              <a:tblGrid>
                <a:gridCol w="149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A6B74"/>
                          </a:solidFill>
                          <a:latin typeface="Calibri"/>
                          <a:ea typeface="Calibri"/>
                          <a:cs typeface="Calibri"/>
                        </a:rPr>
                        <a:t>Model 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A6B74"/>
                          </a:solidFill>
                          <a:latin typeface="Calibri"/>
                          <a:ea typeface="Calibri"/>
                          <a:cs typeface="Calibri"/>
                        </a:rPr>
                        <a:t>Image pipeline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A6B74"/>
                          </a:solidFill>
                          <a:latin typeface="Calibri"/>
                          <a:ea typeface="Calibri"/>
                          <a:cs typeface="Calibri"/>
                        </a:rPr>
                        <a:t>Box format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YOLO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Letterbox resize padded to stride 32, BGR to RGB, scale to [0, 1]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One .txt per frame: class, x_center, y_center, w, h, divided by W or H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Faster R-CNN FPN 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BGR to RGB, tensor in [0, 1], resize (min 800, max 1333), ImageNet mean and std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Absolute [x1, y1, x2, y2], with x2 = x1 + w and y2 = y1 + h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DETR ResNet-50 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BGR to RGB, AutoImageProcessor (shortest edge 800, longest up to 1333), zero-padded batches with mask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32B"/>
                          </a:solidFill>
                          <a:latin typeface="Calibri"/>
                          <a:ea typeface="Calibri"/>
                          <a:cs typeface="Calibri"/>
                        </a:rPr>
                        <a:t>Set by the processor from the annotations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3977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3703320"/>
            <a:ext cx="397764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3858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</a:t>
            </a:r>
            <a:endParaRPr lang="en-US" sz="1500"/>
          </a:p>
        </p:txBody>
      </p:sp>
      <p:sp>
        <p:nvSpPr>
          <p:cNvPr id="8" name="Text 5"/>
          <p:cNvSpPr txBox="1"/>
          <p:nvPr/>
        </p:nvSpPr>
        <p:spPr>
          <a:xfrm>
            <a:off x="640080" y="42336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flip, scale jitter, mosaic, crop, color jitter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boxes with W and H from seqinfo.ini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4709160" y="3703320"/>
            <a:ext cx="3977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3703320"/>
            <a:ext cx="3977640" cy="64008"/>
          </a:xfrm>
          <a:prstGeom prst="rect">
            <a:avLst/>
          </a:prstGeom>
          <a:solidFill>
            <a:srgbClr val="B97A00"/>
          </a:solidFill>
          <a:ln w="12700">
            <a:solidFill>
              <a:srgbClr val="B97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92040" y="3858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only</a:t>
            </a:r>
            <a:endParaRPr lang="en-US" sz="1500"/>
          </a:p>
        </p:txBody>
      </p:sp>
      <p:sp>
        <p:nvSpPr>
          <p:cNvPr id="12" name="Text 9"/>
          <p:cNvSpPr txBox="1"/>
          <p:nvPr/>
        </p:nvSpPr>
        <p:spPr>
          <a:xfrm>
            <a:off x="4892040" y="42336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resize and padding, no random augmentation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video fps from frameRate in create_video.py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8430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274320"/>
            <a:ext cx="8318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50" b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is clean. Detections are not</a:t>
            </a:r>
            <a:endParaRPr lang="en-US" sz="2850"/>
          </a:p>
        </p:txBody>
      </p:sp>
      <p:sp>
        <p:nvSpPr>
          <p:cNvPr id="3" name="Subtitle"/>
          <p:cNvSpPr txBox="1"/>
          <p:nvPr/>
        </p:nvSpPr>
        <p:spPr>
          <a:xfrm>
            <a:off x="411480" y="822960"/>
            <a:ext cx="831875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MOT17 pedestrian tracking · 4 detector outputs scored against human annotation · </a:t>
            </a:r>
            <a:r>
              <a:rPr lang="en-US" sz="1050" dirty="0" err="1"/>
              <a:t>IoU</a:t>
            </a:r>
            <a:r>
              <a:rPr lang="en-US" sz="1050" dirty="0"/>
              <a:t> ≥ 0.5, valid pedestrians only</a:t>
            </a:r>
            <a:endParaRPr lang="en-US" sz="1050">
              <a:cs typeface="Arial"/>
            </a:endParaRPr>
          </a:p>
        </p:txBody>
      </p:sp>
      <p:sp>
        <p:nvSpPr>
          <p:cNvPr id="5" name="Card 1"/>
          <p:cNvSpPr/>
          <p:nvPr/>
        </p:nvSpPr>
        <p:spPr>
          <a:xfrm>
            <a:off x="5486400" y="1234440"/>
            <a:ext cx="3243834" cy="72009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 1 number"/>
          <p:cNvSpPr txBox="1"/>
          <p:nvPr/>
        </p:nvSpPr>
        <p:spPr>
          <a:xfrm>
            <a:off x="5623560" y="1234440"/>
            <a:ext cx="99441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2700"/>
          </a:p>
        </p:txBody>
      </p:sp>
      <p:sp>
        <p:nvSpPr>
          <p:cNvPr id="7" name="Card 1 text"/>
          <p:cNvSpPr txBox="1"/>
          <p:nvPr/>
        </p:nvSpPr>
        <p:spPr>
          <a:xfrm>
            <a:off x="6686550" y="1234440"/>
            <a:ext cx="1940814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</a:rPr>
              <a:t>Best · seq 11, SDP</a:t>
            </a:r>
            <a:endParaRPr lang="en-US" sz="1050"/>
          </a:p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93% precise, 74% recall, tightest boxes (IoU 0.85)</a:t>
            </a:r>
            <a:endParaRPr lang="en-US" sz="1050"/>
          </a:p>
        </p:txBody>
      </p:sp>
      <p:sp>
        <p:nvSpPr>
          <p:cNvPr id="8" name="Card 2"/>
          <p:cNvSpPr/>
          <p:nvPr/>
        </p:nvSpPr>
        <p:spPr>
          <a:xfrm>
            <a:off x="5486400" y="2091690"/>
            <a:ext cx="3243834" cy="72009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ard 2 number"/>
          <p:cNvSpPr txBox="1"/>
          <p:nvPr/>
        </p:nvSpPr>
        <p:spPr>
          <a:xfrm>
            <a:off x="5623560" y="2091690"/>
            <a:ext cx="99441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2700"/>
          </a:p>
        </p:txBody>
      </p:sp>
      <p:sp>
        <p:nvSpPr>
          <p:cNvPr id="10" name="Card 2 text"/>
          <p:cNvSpPr txBox="1"/>
          <p:nvPr/>
        </p:nvSpPr>
        <p:spPr>
          <a:xfrm>
            <a:off x="6686550" y="2091690"/>
            <a:ext cx="1940814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</a:rPr>
              <a:t>Typical · seq 13, SDP / FRCNN</a:t>
            </a:r>
            <a:endParaRPr lang="en-US" sz="1050"/>
          </a:p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About 40% of pedestrians missed, most boxes right</a:t>
            </a:r>
            <a:endParaRPr lang="en-US" sz="1050"/>
          </a:p>
        </p:txBody>
      </p:sp>
      <p:sp>
        <p:nvSpPr>
          <p:cNvPr id="11" name="Card 3"/>
          <p:cNvSpPr/>
          <p:nvPr/>
        </p:nvSpPr>
        <p:spPr>
          <a:xfrm>
            <a:off x="5486400" y="2948940"/>
            <a:ext cx="3243834" cy="72009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 3 number"/>
          <p:cNvSpPr txBox="1"/>
          <p:nvPr/>
        </p:nvSpPr>
        <p:spPr>
          <a:xfrm>
            <a:off x="5623560" y="2948940"/>
            <a:ext cx="99441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</a:t>
            </a:r>
            <a:endParaRPr lang="en-US" sz="2700"/>
          </a:p>
        </p:txBody>
      </p:sp>
      <p:sp>
        <p:nvSpPr>
          <p:cNvPr id="13" name="Card 3 text"/>
          <p:cNvSpPr txBox="1"/>
          <p:nvPr/>
        </p:nvSpPr>
        <p:spPr>
          <a:xfrm>
            <a:off x="6686550" y="2948940"/>
            <a:ext cx="1940814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</a:rPr>
              <a:t>Worst · seq 13, DPM</a:t>
            </a:r>
            <a:endParaRPr lang="en-US" sz="1050"/>
          </a:p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Only 27% of pedestrians found; 41% of boxes wrong</a:t>
            </a:r>
            <a:endParaRPr lang="en-US" sz="1050"/>
          </a:p>
        </p:txBody>
      </p:sp>
      <p:sp>
        <p:nvSpPr>
          <p:cNvPr id="14" name="Note 1"/>
          <p:cNvSpPr/>
          <p:nvPr/>
        </p:nvSpPr>
        <p:spPr>
          <a:xfrm>
            <a:off x="411480" y="3874770"/>
            <a:ext cx="1920240" cy="8229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Note 1 dot"/>
          <p:cNvSpPr/>
          <p:nvPr/>
        </p:nvSpPr>
        <p:spPr>
          <a:xfrm>
            <a:off x="548640" y="401193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Note 1 head"/>
          <p:cNvSpPr txBox="1"/>
          <p:nvPr/>
        </p:nvSpPr>
        <p:spPr>
          <a:xfrm>
            <a:off x="720090" y="395706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</a:rPr>
              <a:t>Ground truth: clean</a:t>
            </a:r>
            <a:endParaRPr lang="en-US" sz="1050"/>
          </a:p>
        </p:txBody>
      </p:sp>
      <p:sp>
        <p:nvSpPr>
          <p:cNvPr id="17" name="Note 1 body"/>
          <p:cNvSpPr txBox="1"/>
          <p:nvPr/>
        </p:nvSpPr>
        <p:spPr>
          <a:xfrm>
            <a:off x="548640" y="4217670"/>
            <a:ext cx="164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No duplicate rows or track gaps. Filter to valid pedestrians first.</a:t>
            </a:r>
            <a:endParaRPr lang="en-US" sz="900"/>
          </a:p>
        </p:txBody>
      </p:sp>
      <p:sp>
        <p:nvSpPr>
          <p:cNvPr id="18" name="Note 2"/>
          <p:cNvSpPr/>
          <p:nvPr/>
        </p:nvSpPr>
        <p:spPr>
          <a:xfrm>
            <a:off x="2544318" y="3874770"/>
            <a:ext cx="1920240" cy="8229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Note 2 dot"/>
          <p:cNvSpPr/>
          <p:nvPr/>
        </p:nvSpPr>
        <p:spPr>
          <a:xfrm>
            <a:off x="2681478" y="401193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Note 2 head"/>
          <p:cNvSpPr txBox="1"/>
          <p:nvPr/>
        </p:nvSpPr>
        <p:spPr>
          <a:xfrm>
            <a:off x="2852928" y="395706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</a:rPr>
              <a:t>Hidden people missed</a:t>
            </a:r>
            <a:endParaRPr lang="en-US" sz="1050"/>
          </a:p>
        </p:txBody>
      </p:sp>
      <p:sp>
        <p:nvSpPr>
          <p:cNvPr id="21" name="Note 2 body"/>
          <p:cNvSpPr txBox="1"/>
          <p:nvPr/>
        </p:nvSpPr>
        <p:spPr>
          <a:xfrm>
            <a:off x="2681478" y="4217670"/>
            <a:ext cx="164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Under 25% visible: only 17% found (seq 11).</a:t>
            </a:r>
            <a:endParaRPr lang="en-US" sz="900"/>
          </a:p>
        </p:txBody>
      </p:sp>
      <p:sp>
        <p:nvSpPr>
          <p:cNvPr id="22" name="Note 3"/>
          <p:cNvSpPr/>
          <p:nvPr/>
        </p:nvSpPr>
        <p:spPr>
          <a:xfrm>
            <a:off x="4677156" y="3874770"/>
            <a:ext cx="1920240" cy="8229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Note 3 dot"/>
          <p:cNvSpPr/>
          <p:nvPr/>
        </p:nvSpPr>
        <p:spPr>
          <a:xfrm>
            <a:off x="4814316" y="401193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ote 3 head"/>
          <p:cNvSpPr txBox="1"/>
          <p:nvPr/>
        </p:nvSpPr>
        <p:spPr>
          <a:xfrm>
            <a:off x="4985766" y="395706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/>
              <a:t>DPM scores ≠ probabilities</a:t>
            </a:r>
            <a:endParaRPr lang="en-US" sz="900" dirty="0">
              <a:cs typeface="Arial"/>
            </a:endParaRPr>
          </a:p>
        </p:txBody>
      </p:sp>
      <p:sp>
        <p:nvSpPr>
          <p:cNvPr id="25" name="Note 3 body"/>
          <p:cNvSpPr txBox="1"/>
          <p:nvPr/>
        </p:nvSpPr>
        <p:spPr>
          <a:xfrm>
            <a:off x="4814316" y="4217670"/>
            <a:ext cx="164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57% are negative, so 0–1 thresholds fail.</a:t>
            </a:r>
            <a:endParaRPr lang="en-US" sz="900"/>
          </a:p>
        </p:txBody>
      </p:sp>
      <p:sp>
        <p:nvSpPr>
          <p:cNvPr id="26" name="Note 4"/>
          <p:cNvSpPr/>
          <p:nvPr/>
        </p:nvSpPr>
        <p:spPr>
          <a:xfrm>
            <a:off x="6809994" y="3874770"/>
            <a:ext cx="1920240" cy="8229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Note 4 dot"/>
          <p:cNvSpPr/>
          <p:nvPr/>
        </p:nvSpPr>
        <p:spPr>
          <a:xfrm>
            <a:off x="6947154" y="401193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Note 4 head"/>
          <p:cNvSpPr txBox="1"/>
          <p:nvPr/>
        </p:nvSpPr>
        <p:spPr>
          <a:xfrm>
            <a:off x="7118604" y="395706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</a:rPr>
              <a:t>Messy files</a:t>
            </a:r>
            <a:endParaRPr lang="en-US" sz="1050"/>
          </a:p>
        </p:txBody>
      </p:sp>
      <p:sp>
        <p:nvSpPr>
          <p:cNvPr id="29" name="Note 4 body"/>
          <p:cNvSpPr txBox="1"/>
          <p:nvPr/>
        </p:nvSpPr>
        <p:spPr>
          <a:xfrm>
            <a:off x="6947154" y="4217670"/>
            <a:ext cx="164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FRCNN unsorted; 6–8 frames empty in DPM and SDP (seq 13).</a:t>
            </a:r>
            <a:endParaRPr lang="en-US" sz="90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13C7577-BE7C-FE8D-445E-0FCD49FE0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287902"/>
            <a:ext cx="4131733" cy="215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0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552983"/>
              </p:ext>
            </p:extLst>
          </p:nvPr>
        </p:nvGraphicFramePr>
        <p:xfrm>
          <a:off x="457200" y="1025562"/>
          <a:ext cx="8229600" cy="379027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1672484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68517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52599919"/>
                    </a:ext>
                  </a:extLst>
                </a:gridCol>
              </a:tblGrid>
              <a:tr h="240673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Paper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Main Idea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Relevance to Our Project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1236606"/>
                  </a:ext>
                </a:extLst>
              </a:tr>
              <a:tr h="577615">
                <a:tc>
                  <a:txBody>
                    <a:bodyPr/>
                    <a:lstStyle/>
                    <a:p>
                      <a:r>
                        <a:rPr lang="en-I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ByteTrack (Zhang et al., 2022)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Uses both high- and low-confidence detections to maintain tracks during occlusion.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One of our main trackers; useful for comparing detector–tracker combinations.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864838"/>
                  </a:ext>
                </a:extLst>
              </a:tr>
              <a:tr h="577615">
                <a:tc>
                  <a:txBody>
                    <a:bodyPr/>
                    <a:lstStyle/>
                    <a:p>
                      <a:r>
                        <a:rPr lang="fr-FR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OC-SORT (Cao et al., 2023)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Improves motion estimation and object association after temporary occlusion.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Second tracker in our pipeline; enables direct comparison with ByteTrack.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947457"/>
                  </a:ext>
                </a:extLst>
              </a:tr>
              <a:tr h="577615">
                <a:tc>
                  <a:txBody>
                    <a:bodyPr/>
                    <a:lstStyle/>
                    <a:p>
                      <a:r>
                        <a:rPr lang="en-I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MOTChallenge (Dendorfer et al., 2021)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Introduces MOT17 benchmark and standard tracking metrics such as MOTA, IDF1, and HOTA.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Provides our dataset and evaluation framework.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496976"/>
                  </a:ext>
                </a:extLst>
              </a:tr>
              <a:tr h="577615">
                <a:tc>
                  <a:txBody>
                    <a:bodyPr/>
                    <a:lstStyle/>
                    <a:p>
                      <a:r>
                        <a:rPr lang="en-I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BoT-SORT (Aharon et al., 2022)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Combines motion, appearance features, and camera-motion compensation.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Shows a stronger alternative tracker for future extension.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7795405"/>
                  </a:ext>
                </a:extLst>
              </a:tr>
              <a:tr h="577615">
                <a:tc>
                  <a:txBody>
                    <a:bodyPr/>
                    <a:lstStyle/>
                    <a:p>
                      <a:r>
                        <a:rPr lang="da-DK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CenterTrack (Zhou et al., 2020)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Integrates object detection and tracking instead of keeping them fully separate.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Provides a comparison to our modular detector → tracker architecture.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4630056"/>
                  </a:ext>
                </a:extLst>
              </a:tr>
              <a:tr h="577615">
                <a:tc>
                  <a:txBody>
                    <a:bodyPr/>
                    <a:lstStyle/>
                    <a:p>
                      <a:r>
                        <a:rPr lang="en-I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Rahman et al. (2020)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Studies monitoring of object-detection performance after deployment.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Connects our vision pipeline to later </a:t>
                      </a:r>
                      <a:r>
                        <a:rPr lang="en-US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MLOps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monitoring and reliability tasks.</a:t>
                      </a:r>
                    </a:p>
                  </a:txBody>
                  <a:tcPr marL="66551" marR="66551" marT="33276" marB="33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366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121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D3DA-A306-3DD6-8ABB-391F7699D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2000" b="1" dirty="0">
                <a:highlight>
                  <a:srgbClr val="FAFAFD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Service Level Agreements (SLAs) &amp; Target Key Performance Indicators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74572-DC75-E7D6-6E16-9727B3DC17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84" r="2" b="834"/>
          <a:stretch/>
        </p:blipFill>
        <p:spPr>
          <a:xfrm>
            <a:off x="311700" y="1011936"/>
            <a:ext cx="8520600" cy="3608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92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600" b="1" dirty="0">
                <a:solidFill>
                  <a:srgbClr val="14232B"/>
                </a:solidFill>
                <a:latin typeface="Calibri"/>
              </a:rPr>
              <a:t>Object tracking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06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5A6B74"/>
                </a:solidFill>
                <a:latin typeface="Calibri"/>
              </a:rPr>
              <a:t>Every detector writes the same canonical detection CSV; both trackers consume that identical saved file for a fair association comparison.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" y="1209234"/>
            <a:ext cx="6959600" cy="3479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How detection and tracking is scored</a:t>
            </a:r>
            <a:endParaRPr lang="en-US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5A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trajectories are matched to gt.txt (pedestrians only: class_id = 1, consider = 1) at IoU ≥ 0.5.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1453896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TP, FP and FN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621792" y="174650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= predicted box and GT box with IoU ≥ 0.5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621792" y="2148840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GT pedestrian paired with a prediction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predicted box with no GT pedestrian (spurious box)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GT pedestrian the model missed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 / (TP + FP), Recall = TP / (TP + FN)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64008"/>
          </a:xfrm>
          <a:prstGeom prst="rect">
            <a:avLst/>
          </a:prstGeom>
          <a:solidFill>
            <a:srgbClr val="B97A00"/>
          </a:solidFill>
          <a:ln w="12700">
            <a:solidFill>
              <a:srgbClr val="B97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73752" y="1453896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(CLEAR MOT)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4873752" y="174650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B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= 1 − Σ(FN + FP + IDSW) / Σ GT</a:t>
            </a:r>
            <a:endParaRPr lang="en-US" sz="1100"/>
          </a:p>
        </p:txBody>
      </p:sp>
      <p:sp>
        <p:nvSpPr>
          <p:cNvPr id="13" name="Text 11"/>
          <p:cNvSpPr txBox="1"/>
          <p:nvPr/>
        </p:nvSpPr>
        <p:spPr>
          <a:xfrm>
            <a:off x="4873752" y="2148840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IDSW: a track changes ID between frames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detection errors; range up to 100%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negative when false alarms are excessive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776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77640" cy="64008"/>
          </a:xfrm>
          <a:prstGeom prst="rect">
            <a:avLst/>
          </a:prstGeom>
          <a:solidFill>
            <a:srgbClr val="B97A00"/>
          </a:solidFill>
          <a:ln w="12700">
            <a:solidFill>
              <a:srgbClr val="B97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1792" y="3236976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IDF1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621792" y="352958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B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IDF1 = 2·IDTP / (2·IDTP + IDFP + IDFN)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621792" y="3931920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bipartite match of GT and predicted trajectories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long the same ID stays on the same person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trajectory consistency, unlike MOTA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39776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397764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73752" y="3236976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HOTA (Luiten et al., IJCV 2021)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4873752" y="352958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HOTAα = √(DetAα · AssAα), averaged over α = 0.05 to 0.95</a:t>
            </a:r>
            <a:endParaRPr lang="en-US" sz="1100"/>
          </a:p>
        </p:txBody>
      </p:sp>
      <p:sp>
        <p:nvSpPr>
          <p:cNvPr id="23" name="Text 21"/>
          <p:cNvSpPr txBox="1"/>
          <p:nvPr/>
        </p:nvSpPr>
        <p:spPr>
          <a:xfrm>
            <a:off x="4873752" y="3931920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 = TP / (TP + FP + FN): detection quality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AssA: how well detections are linked into correct tracks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 19 thresholds; balances both aspects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866700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4232B"/>
                </a:solidFill>
                <a:latin typeface="Calibri"/>
              </a:rPr>
              <a:t>Final combined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B74"/>
                </a:solidFill>
                <a:latin typeface="Calibri"/>
              </a:rPr>
              <a:t>Two complete sequences combined with TrackEval sequence aggregation. Values are percentages except FPS.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222636"/>
              </p:ext>
            </p:extLst>
          </p:nvPr>
        </p:nvGraphicFramePr>
        <p:xfrm>
          <a:off x="457200" y="1353312"/>
          <a:ext cx="8229595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0668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232B"/>
                          </a:solidFill>
                          <a:latin typeface="Calibri"/>
                        </a:rPr>
                        <a:t>Detector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232B"/>
                          </a:solidFill>
                          <a:latin typeface="Calibri"/>
                        </a:rPr>
                        <a:t>Tracker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232B"/>
                          </a:solidFill>
                          <a:latin typeface="Calibri"/>
                        </a:rPr>
                        <a:t>HOTA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232B"/>
                          </a:solidFill>
                          <a:latin typeface="Calibri"/>
                        </a:rPr>
                        <a:t>MOTA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232B"/>
                          </a:solidFill>
                          <a:latin typeface="Calibri"/>
                        </a:rPr>
                        <a:t>IDF1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232B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232B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232B"/>
                          </a:solidFill>
                          <a:latin typeface="Calibri"/>
                        </a:rPr>
                        <a:t>FPS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YOLO26n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ByteTrack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31.12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26.95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34.39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89.80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30.93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4.17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YOLO26n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OC-SORT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31.87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26.86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36.07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89.52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30.97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4.15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Faster R-CNN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ByteTrack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31.72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18.14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36.04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61.21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54.43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Faster R-CNN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OC-SORT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30.68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17.36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35.62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60.75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54.55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DETR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ByteTrack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28.02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4.80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28.87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54.37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53.15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0.24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6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DETR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OC-SORT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26.69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26.66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232B"/>
                          </a:solidFill>
                          <a:latin typeface="Calibri"/>
                        </a:rPr>
                        <a:t>53.33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52.86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4232B"/>
                          </a:solidFill>
                          <a:latin typeface="Calibri"/>
                        </a:rPr>
                        <a:t>0.24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72584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4232B"/>
                </a:solidFill>
                <a:latin typeface="Calibri"/>
              </a:rPr>
              <a:t>Best balanced quality: YOLO26n + OC-SORT (HOTA 31.87, IDF1 36.07). Best MOTA and fastest controlled pipeline: YOLO26n + </a:t>
            </a:r>
            <a:r>
              <a:rPr sz="1100" b="1" dirty="0" err="1">
                <a:solidFill>
                  <a:srgbClr val="14232B"/>
                </a:solidFill>
                <a:latin typeface="Calibri"/>
              </a:rPr>
              <a:t>ByteTrack</a:t>
            </a:r>
            <a:r>
              <a:rPr sz="1100" b="1" dirty="0">
                <a:solidFill>
                  <a:srgbClr val="14232B"/>
                </a:solidFill>
                <a:latin typeface="Calibri"/>
              </a:rPr>
              <a:t> (MOTA 26.95, 4.17 FPS).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Sequence-specific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B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Tracking quality changes substantially with scene density and operating conditions.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977639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977639" cy="64008"/>
          </a:xfrm>
          <a:prstGeom prst="rect">
            <a:avLst/>
          </a:prstGeom>
          <a:solidFill>
            <a:srgbClr val="B97A00"/>
          </a:solidFill>
          <a:ln>
            <a:solidFill>
              <a:srgbClr val="B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1371600"/>
            <a:ext cx="3648456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MOT17-02-DPM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0" y="1660620"/>
            <a:ext cx="36484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600 frames • 1920×1080 • 31.0 pedestrians/frame • dense large-square scene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956017"/>
              </p:ext>
            </p:extLst>
          </p:nvPr>
        </p:nvGraphicFramePr>
        <p:xfrm>
          <a:off x="457200" y="2507158"/>
          <a:ext cx="397763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4232B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32B"/>
                          </a:solidFill>
                          <a:latin typeface="Calibri"/>
                        </a:rPr>
                        <a:t>HOTA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32B"/>
                          </a:solidFill>
                          <a:latin typeface="Calibri"/>
                        </a:rPr>
                        <a:t>MOTA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4232B"/>
                          </a:solidFill>
                          <a:latin typeface="Calibri"/>
                        </a:rPr>
                        <a:t>IDF1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YOLO26n + BT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26.18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18.98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27.08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YOLO26n + OC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27.35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18.87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29.03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Faster R-CNN + BT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27.57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12.13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31.75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Faster R-CNN + OC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27.64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11.49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32.09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DETR + BT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23.47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-0.73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23.98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DETR + OC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21.53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-3.30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21.25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6" name="Picture 15" descr="seq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118" y="1266444"/>
            <a:ext cx="3701743" cy="20822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58180" y="3581578"/>
            <a:ext cx="25476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MOT17-02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Sequence-specific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B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Tracking quality changes substantially with scene density and operating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4140"/>
            <a:ext cx="3977639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74140"/>
            <a:ext cx="3977639" cy="64008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" y="1511300"/>
            <a:ext cx="3648456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MOT17-09-DPM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9628"/>
            <a:ext cx="364845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525 frames • 1920×1080 • 10.1 pedestrians/frame • lower-angle pedestrian street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877875"/>
              </p:ext>
            </p:extLst>
          </p:nvPr>
        </p:nvGraphicFramePr>
        <p:xfrm>
          <a:off x="457200" y="2471420"/>
          <a:ext cx="397763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32B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32B"/>
                          </a:solidFill>
                          <a:latin typeface="Calibri"/>
                        </a:rPr>
                        <a:t>HOTA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32B"/>
                          </a:solidFill>
                          <a:latin typeface="Calibri"/>
                        </a:rPr>
                        <a:t>MOTA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4232B"/>
                          </a:solidFill>
                          <a:latin typeface="Calibri"/>
                        </a:rPr>
                        <a:t>IDF1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YOLO26n + BT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43.39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54.76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52.71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YOLO26n + OC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43.30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54.72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53.71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Faster R-CNN + BT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43.30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39.12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49.32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Faster R-CNN + OC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39.59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37.82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46.59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DETR + BT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39.27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24.11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42.94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8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DETR + OC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38.90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32B"/>
                          </a:solidFill>
                          <a:latin typeface="Calibri"/>
                        </a:rPr>
                        <a:t>21.16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4232B"/>
                          </a:solidFill>
                          <a:latin typeface="Calibri"/>
                        </a:rPr>
                        <a:t>42.25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5" name="Picture 14" descr="seq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612" y="1374140"/>
            <a:ext cx="3409188" cy="19176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79186" y="3338727"/>
            <a:ext cx="2606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MOT17-09</a:t>
            </a:r>
          </a:p>
        </p:txBody>
      </p:sp>
    </p:spTree>
    <p:extLst>
      <p:ext uri="{BB962C8B-B14F-4D97-AF65-F5344CB8AC3E}">
        <p14:creationId xmlns:p14="http://schemas.microsoft.com/office/powerpoint/2010/main" val="603850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1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B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end-to-end comparison is complete and now supports a defensible model-selection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977639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977639" cy="64008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1463039"/>
            <a:ext cx="36484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balanced tracker</a:t>
            </a:r>
            <a:r>
              <a:rPr lang="en-IN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Quality Winner</a:t>
            </a:r>
            <a:endParaRPr b="1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869055"/>
            <a:ext cx="364845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YOLO26n + OC-SORT
HOTA 31.87 </a:t>
            </a:r>
            <a:endParaRPr lang="en-IN" b="0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IDF1 36.07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325880"/>
            <a:ext cx="3977639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09160" y="1325880"/>
            <a:ext cx="3977639" cy="64008"/>
          </a:xfrm>
          <a:prstGeom prst="rect">
            <a:avLst/>
          </a:prstGeom>
          <a:solidFill>
            <a:srgbClr val="B97A00"/>
          </a:solidFill>
          <a:ln>
            <a:solidFill>
              <a:srgbClr val="B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73752" y="1463039"/>
            <a:ext cx="36484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operational choice</a:t>
            </a:r>
            <a:r>
              <a:rPr lang="en-IN" sz="1400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Speed/MOTA Winner</a:t>
            </a:r>
            <a:endParaRPr sz="1400" b="1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3752" y="1838276"/>
            <a:ext cx="364845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YOLO26n + </a:t>
            </a:r>
            <a:r>
              <a:rPr b="0" dirty="0" err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ByteTrack</a:t>
            </a:r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MOTA 26.95</a:t>
            </a:r>
            <a:endParaRPr lang="en-IN" b="0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4.17 FPS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3977639" cy="16281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3977639" cy="64008"/>
          </a:xfrm>
          <a:prstGeom prst="rect">
            <a:avLst/>
          </a:prstGeom>
          <a:solidFill>
            <a:srgbClr val="B97A00"/>
          </a:solidFill>
          <a:ln>
            <a:solidFill>
              <a:srgbClr val="B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" y="3017520"/>
            <a:ext cx="36484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55848"/>
            <a:ext cx="364845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b="0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Faster R-CNN + ByteTrack reaches similar </a:t>
            </a:r>
            <a:r>
              <a:rPr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combined HOTA/IDF1, but is </a:t>
            </a:r>
            <a:r>
              <a:rPr lang="en-GB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~32</a:t>
            </a:r>
            <a:r>
              <a:rPr lang="en-GB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×</a:t>
            </a:r>
            <a:r>
              <a:rPr b="0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 slower than YOLO under the controlled CPU latency 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880360"/>
            <a:ext cx="3977639" cy="16281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09160" y="2880360"/>
            <a:ext cx="3977639" cy="64008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73752" y="3017520"/>
            <a:ext cx="36484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3355848"/>
            <a:ext cx="3648456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configurations evaluated </a:t>
            </a:r>
            <a:endParaRPr lang="en-IN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complete sequences </a:t>
            </a:r>
            <a:endParaRPr lang="en-IN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 </a:t>
            </a:r>
            <a:endParaRPr lang="en-IN" b="0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controlled latency </a:t>
            </a:r>
            <a:endParaRPr lang="en-IN" dirty="0">
              <a:solidFill>
                <a:srgbClr val="1423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b="0" dirty="0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 videos.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and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B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experiment is complete for Milestone 1 comparison, but the current results should be interpreted within the tested scope.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977639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977639" cy="64008"/>
          </a:xfrm>
          <a:prstGeom prst="rect">
            <a:avLst/>
          </a:prstGeom>
          <a:solidFill>
            <a:srgbClr val="B97A00"/>
          </a:solidFill>
          <a:ln>
            <a:solidFill>
              <a:srgbClr val="B9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1463039"/>
            <a:ext cx="364845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3648456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just">
              <a:buChar char="•"/>
            </a:pPr>
            <a:r>
              <a:rPr sz="1200" b="0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Final accuracy uses two MOT17 training sequences, not the full seven-sequence train split or hidden test set.</a:t>
            </a:r>
            <a:endParaRPr lang="en-US" dirty="0">
              <a:ea typeface="Calibri"/>
            </a:endParaRPr>
          </a:p>
          <a:p>
            <a:pPr algn="just"/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 algn="just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Generic pretrained detectors; no MOT-specific fine-tuning.</a:t>
            </a:r>
            <a:endParaRPr lang="en-GB" sz="120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 algn="just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Fixed collection/tracker thresholds; no </a:t>
            </a:r>
            <a:r>
              <a:rPr lang="en-US" sz="1200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hyperparameter </a:t>
            </a:r>
            <a:r>
              <a:rPr lang="en-US" sz="120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optimization</a:t>
            </a: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ea typeface="Calibri"/>
            </a:endParaRPr>
          </a:p>
          <a:p>
            <a:pPr marL="171450" indent="-171450" algn="just">
              <a:buChar char="•"/>
            </a:pPr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 algn="just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CPU-only inference; latency is not representative of </a:t>
            </a:r>
            <a:r>
              <a:rPr lang="en-US" sz="1200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optimized </a:t>
            </a:r>
            <a:r>
              <a:rPr lang="en-US" sz="120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GPU </a:t>
            </a: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deployment</a:t>
            </a:r>
            <a:endParaRPr lang="en-US">
              <a:ea typeface="Calibri"/>
            </a:endParaRPr>
          </a:p>
          <a:p>
            <a:pPr algn="just"/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 algn="just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Absolute MOT17 scores are moderate; conclusions are </a:t>
            </a:r>
            <a:r>
              <a:rPr sz="1200" b="0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comparative within this experiment.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09160" y="1325880"/>
            <a:ext cx="3977639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60" y="1325880"/>
            <a:ext cx="3977639" cy="64008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73752" y="1463039"/>
            <a:ext cx="364845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423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801368"/>
            <a:ext cx="3648456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Run the remaining five unique MOT17 train scenes for broader distribution coverage.</a:t>
            </a:r>
            <a:endParaRPr lang="en-US">
              <a:latin typeface="Calibri"/>
              <a:ea typeface="Calibri"/>
              <a:cs typeface="Calibri"/>
            </a:endParaRPr>
          </a:p>
          <a:p>
            <a:pPr marL="171450" indent="-171450">
              <a:buChar char="•"/>
            </a:pPr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GPU</a:t>
            </a:r>
            <a:r>
              <a:rPr lang="en-GB" sz="120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quantization for deployment throughput.</a:t>
            </a:r>
            <a:endParaRPr lang="en-GB" sz="120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Tune detector/tracker thresholds and test larger/specialized pedestrian detectors.</a:t>
            </a:r>
            <a:endParaRPr lang="en-GB" sz="120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Add appearance/Re-ID features and temporal smoothing.</a:t>
            </a:r>
            <a:endParaRPr lang="en-GB" sz="120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endParaRPr lang="en-GB" sz="1200" dirty="0">
              <a:solidFill>
                <a:srgbClr val="14232B"/>
              </a:solidFill>
              <a:latin typeface="Calibri"/>
              <a:ea typeface="Calibri"/>
              <a:cs typeface="Calibri"/>
            </a:endParaRPr>
          </a:p>
          <a:p>
            <a:pPr marL="171450" indent="-171450" algn="l">
              <a:buChar char="•"/>
            </a:pPr>
            <a:r>
              <a:rPr sz="1200" b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Package reproducibly with Docker, then proceed to </a:t>
            </a:r>
            <a:r>
              <a:rPr sz="1200" b="0" dirty="0">
                <a:solidFill>
                  <a:srgbClr val="14232B"/>
                </a:solidFill>
                <a:latin typeface="Calibri"/>
                <a:ea typeface="Calibri"/>
                <a:cs typeface="Calibri"/>
              </a:rPr>
              <a:t>deployment, monitoring and drift work in later milestones.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1694</Words>
  <Application>Microsoft Office PowerPoint</Application>
  <PresentationFormat>On-screen Show (16:9)</PresentationFormat>
  <Paragraphs>289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Cambria</vt:lpstr>
      <vt:lpstr>Arial</vt:lpstr>
      <vt:lpstr>Calibri</vt:lpstr>
      <vt:lpstr>Simple Light</vt:lpstr>
      <vt:lpstr>Object Detection and Tracking</vt:lpstr>
      <vt:lpstr>PowerPoint Presentation</vt:lpstr>
      <vt:lpstr>PowerPoint Presentation</vt:lpstr>
      <vt:lpstr>PowerPoint Presentation</vt:lpstr>
      <vt:lpstr>Ground truth is clean. Detections are not</vt:lpstr>
      <vt:lpstr>PowerPoint Presentation</vt:lpstr>
      <vt:lpstr>Reference Service Level Agreements (SLAs) &amp; Target Key Performance Indicators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and Tracking</dc:title>
  <dc:creator>Preya Patel</dc:creator>
  <cp:lastModifiedBy>Patel, Preya Bhavikchandra (MU-Student)</cp:lastModifiedBy>
  <cp:revision>252</cp:revision>
  <dcterms:modified xsi:type="dcterms:W3CDTF">2026-10-12T21:38:01Z</dcterms:modified>
</cp:coreProperties>
</file>